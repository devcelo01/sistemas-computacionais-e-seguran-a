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Rajdhani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jdhani-bold.fntdata"/><Relationship Id="rId6" Type="http://schemas.openxmlformats.org/officeDocument/2006/relationships/slide" Target="slides/slide1.xml"/><Relationship Id="rId18" Type="http://schemas.openxmlformats.org/officeDocument/2006/relationships/font" Target="fonts/Rajdhani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9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Relationship Id="rId7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9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Relationship Id="rId8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62025" y="1365944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SITRA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62025" y="2127944"/>
            <a:ext cx="800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SISTEMA INTELIGENTE 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TRANSPORTE AUTÔNOMO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62025" y="3014344"/>
            <a:ext cx="7620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Uma proposta de mobilidade urbana baseada em Cidades Inteligentes, IoT e Sustentabilidade para São Paulo.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62025" y="4097535"/>
            <a:ext cx="762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Bruno Vinicius de Almeida - 825113076 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Cauã dos Santos Viana - 825110285 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Gabriel Gomes de Oliveira - 825149030 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Gabriel Santos Costa - 82511197 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Marcelo Andrade da Silva - 825153302 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Pedro Paulo Alves dos Santos - 23217810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62025" y="5417935"/>
            <a:ext cx="762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Universidade São Judas Tadeu |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71525" y="771525"/>
            <a:ext cx="4990623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O DESAFIO URBANO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81025" y="771525"/>
            <a:ext cx="47625" cy="5905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81025" y="2003226"/>
            <a:ext cx="49434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Cenário Atual: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Grandes metrópoles como São Paulo enfrentam um colapso logístico. O sistema tradicional de horários fixos é incapaz de responder à demanda caótica da cidade.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3614737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Principais Problemas: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4212877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Superlotação crítica nos horários de pico.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4630042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Ociosidade e desperdício energético no entrepico.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5047208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Alta emissão de GEE por frota a diesel.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26050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677667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094833"/>
            <a:ext cx="21907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72704"/>
            <a:ext cx="3486150" cy="3703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872704"/>
            <a:ext cx="3486150" cy="3703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872704"/>
            <a:ext cx="3486150" cy="370314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76300" y="2806154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SMART CITIES &amp; IOT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76300" y="3463379"/>
            <a:ext cx="289560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Digitalização do ambiente físico. Transição da IoT para a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IoV (Internet of Vehicles)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permitindo comunicação V2X (Vehicle-to-Everything) para aumentar a eficiência em até 30%.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48200" y="2806154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AUTONOMIA NÍVEL 4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48200" y="3463379"/>
            <a:ext cx="28956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Adoção do padrão SAE Nível 4 (Alta Automação). O veículo realiza todas as tarefas de condução em áreas delimitadas (geofenced) ou corredores exclusivos BRT.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20100" y="2806154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SUSTENTABILIDADE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20100" y="3463379"/>
            <a:ext cx="289560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Eletrificação mandatória combinada com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VIPV (Vehicle-Integrated Photovoltaics)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Painéis solares alimentam sistemas auxiliares para poupar a bateria principal.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18702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18702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18702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FUNDAMENTAÇÃO TECNOLÓGICA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19275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828800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914400" y="2280344"/>
            <a:ext cx="4895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Hardware Embarcado: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Processamento local com NVIDIA Jetson Orin para decisões críticas em tempo real (freio de emergência, desvios), reduzindo a dependência da nuvem.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14400" y="3293715"/>
            <a:ext cx="4895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Percepção Avançada: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Fusão de sensores LiDAR para mapeamento 3D e Câmeras para reconhecimento semântico.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14400" y="4307085"/>
            <a:ext cx="4895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Contagem Inteligente: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Câmeras estereoscópicas com algoritmo YOLOv8 substituem catracas mecânicas, calculando a densidade (hab/m²) em tempo real.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71525" y="581025"/>
            <a:ext cx="11381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O VEÍCULO INTELIGENTE (EDGE NODE)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29939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31276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2613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42269"/>
            <a:ext cx="5229225" cy="2564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74689"/>
            <a:ext cx="5229225" cy="289917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971550" y="2832794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6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REDE &amp; PROTOCOLO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71550" y="3347144"/>
            <a:ext cx="44481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Utilização híbrida de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5G/4G LTE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para banda larga. Adoção do protocolo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MQTT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(Publish/Subscribe) em vez de HTTP, otimizado para conexões instáveis e baixo consumo de dados.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772275" y="2665214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8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ESTRUTURA DE TÓPICOS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72275" y="3160514"/>
            <a:ext cx="44481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DE8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4ADE80"/>
                </a:solidFill>
                <a:latin typeface="Courier New"/>
                <a:ea typeface="Courier New"/>
                <a:cs typeface="Courier New"/>
                <a:sym typeface="Courier New"/>
              </a:rPr>
              <a:t>sitra/sp/sul/linha_975/VEA_42/telemetria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ADE80"/>
                </a:solidFill>
                <a:latin typeface="Courier New"/>
                <a:ea typeface="Courier New"/>
                <a:cs typeface="Courier New"/>
                <a:sym typeface="Courier New"/>
              </a:rPr>
              <a:t> sitra/sp/sul/linha_975/VEA_42/ocupacao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ADE80"/>
                </a:solidFill>
                <a:latin typeface="Courier New"/>
                <a:ea typeface="Courier New"/>
                <a:cs typeface="Courier New"/>
                <a:sym typeface="Courier New"/>
              </a:rPr>
              <a:t> sitra/sp/sul/linha_975/VEA_42/status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772275" y="4063305"/>
            <a:ext cx="44481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Uso de QoS Nível 1 ou 2 para garantir entrega de dados críticos.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851844"/>
            <a:ext cx="346769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684264"/>
            <a:ext cx="318194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ARQUITETURA DE CONECTIVIDADE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6858000" y="771525"/>
            <a:ext cx="4990623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ORQUESTRAÇÃO &amp; ENERGIA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6667500" y="771525"/>
            <a:ext cx="47625" cy="1181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667500" y="2007989"/>
            <a:ext cx="51906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IA PREDITIVA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667500" y="2665214"/>
            <a:ext cx="49434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"cérebro" na nuvem utiliza Machine Learning (Random Forest/RNN) para antecipar picos de demanda. O despacho é algorítmico, ativando veículos da "Garagem Pulmão" antes da superlotação ocorrer.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667500" y="4105275"/>
            <a:ext cx="51906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RECARGA DE OPORTUNIDADE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667500" y="4762500"/>
            <a:ext cx="49434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Para operação 24h, adota-se o </a:t>
            </a: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Opportunity Charging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Terminais com pantógrafos invertidos de alta potência (300kW+) recuperam energia em 5-10 minutos durante o embarque/desembarque.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09775"/>
            <a:ext cx="3486150" cy="3428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009775"/>
            <a:ext cx="3486150" cy="3428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009775"/>
            <a:ext cx="3486150" cy="342885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876300" y="2943225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ECONÔMICO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76300" y="3600450"/>
            <a:ext cx="28956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Alto CAPEX inicial (aquisição de frota tecnológica), compensado por drástica redução de OPEX (eliminação de diesel e otimização de mão de obra operacional).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648200" y="2943225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SOCIAL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648200" y="3600450"/>
            <a:ext cx="28956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Melhoria na qualidade de vida com redução do tempo de espera. Necessidade de requalificação de motoristas para funções de monitoramento remoto.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420100" y="2943225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Rajdhani"/>
                <a:ea typeface="Rajdhani"/>
                <a:cs typeface="Rajdhani"/>
                <a:sym typeface="Rajdhani"/>
              </a:rPr>
              <a:t>AMBIENTAL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420100" y="3600450"/>
            <a:ext cx="28956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Alinhamento com ODS da ONU. Redução direta de CO2, NOx e material particulado. Exemplo prático de microgeração de energia móvel.</a:t>
            </a:r>
            <a:endParaRPr/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3241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3241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3241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VIABILIDADE E IMPACTO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390525" y="2107108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O FUTURO É AGORA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81025" y="3059608"/>
            <a:ext cx="76200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 SITRA demonstra que a convergência entre IA, IoT e Engenharia Automotiva é a chave para resolver gargalos históricos. A transição da rigidez das tabelas horárias para a fluidez da demanda real é o próximo passo evolutivo para São Paulo.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